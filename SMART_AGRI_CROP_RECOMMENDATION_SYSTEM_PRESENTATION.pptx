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AGNI COLLEGE OF TECHNOLOGY</a:t>
            </a:r>
          </a:p>
          <a:p>
            <a:pPr algn="ctr">
              <a:defRPr sz="1400" b="1">
                <a:solidFill>
                  <a:srgbClr val="10B981"/>
                </a:solidFill>
                <a:latin typeface="Arial"/>
              </a:defRPr>
            </a:pPr>
            <a:r>
              <a:t>DEPARTMENT OF COMPUTER SCIENCE AND ENGINEERING</a:t>
            </a:r>
          </a:p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CSE MINI PROJECT PRESENTATION | SUBMISSION: 07-10-2026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9997135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SMART AGRI-CROP RECOMMENDATION SYSTEM</a:t>
            </a:r>
          </a:p>
          <a:p>
            <a:pPr algn="ctr">
              <a:defRPr sz="1300">
                <a:solidFill>
                  <a:srgbClr val="10B981"/>
                </a:solidFill>
                <a:latin typeface="Arial"/>
              </a:defRPr>
            </a:pPr>
            <a:r>
              <a:t>Data-Driven Precision Decision Support System for Soil &amp; Climate Compatibility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14800"/>
            <a:ext cx="9997135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PROJECT 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Lokeshwari T</a:t>
            </a:r>
          </a:p>
          <a:p>
            <a:pPr algn="ctr">
              <a:defRPr sz="1100">
                <a:solidFill>
                  <a:srgbClr val="10B981"/>
                </a:solidFill>
                <a:latin typeface="Arial"/>
              </a:defRPr>
            </a:pPr>
            <a:r>
              <a:t>Reg: 312824104089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4663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Mythili L</a:t>
            </a:r>
          </a:p>
          <a:p>
            <a:pPr algn="ctr">
              <a:defRPr sz="1100">
                <a:solidFill>
                  <a:srgbClr val="10B981"/>
                </a:solidFill>
                <a:latin typeface="Arial"/>
              </a:defRPr>
            </a:pPr>
            <a:r>
              <a:t>Reg: 312824104102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663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Rahav</a:t>
            </a:r>
          </a:p>
          <a:p>
            <a:pPr algn="ctr">
              <a:defRPr sz="1100">
                <a:solidFill>
                  <a:srgbClr val="10B981"/>
                </a:solidFill>
                <a:latin typeface="Arial"/>
              </a:defRPr>
            </a:pPr>
            <a:r>
              <a:t>Reg: 312824104123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4663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Mohamed Rafi</a:t>
            </a:r>
          </a:p>
          <a:p>
            <a:pPr algn="ctr">
              <a:defRPr sz="1100">
                <a:solidFill>
                  <a:srgbClr val="10B981"/>
                </a:solidFill>
                <a:latin typeface="Arial"/>
              </a:defRPr>
            </a:pPr>
            <a:r>
              <a:t>Reg: 312824104096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01. Introduction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Background &amp; Agriculture Decision Support System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Agricultural Significance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Agriculture is the backbone of food security and rural livelihoods. Enhancing crop yield through scientific precision farming is essential for sustainable land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The Decision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Farmers face complex multi-factorial choices when selecting crops. Relying solely on historical tradition leads to yield loss, soil degradation, and financial risks.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776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Data-Driven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By evaluating empirical soil nutrients (Nitrogen, Phosphorus, Potassium, Soil pH) and climatic attributes (Temperature, Humidity, Rainfall), farming decisions become objective.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776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System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Arial"/>
              </a:defRPr>
            </a:pPr>
            <a:r>
              <a:t>A web-based Smart Agri-Crop Recommendation System prototype that accepts field parameters and generates ranked crop suitability scores with agronomic explanations.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02. Problem Statement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Key Challenges in Traditional Agricultural Crop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1. Guesswork &amp; Legacy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Crop choices are predominantly based on regional habits and past seasons rather than dynamic soil chemical testing or microclimate realities.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2. Soil Nutrient Misalignment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Excessive or deficient application of Nitrogen, Phosphorus, and Potassium damages soil microbial health and lowers crop output efficiency.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776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3. Climate Sensitivity &amp;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Unpredictable thermal changes, varying humidity, and erratic seasonal rainfall cause widespread crop failure when unmonitored.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776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4. Raw Soil Report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Lab testing yields numerical soil figures (e.g. N=90 mg/kg, pH=6.5), but farmers lack automated decision tools to translate metrics into crop choices.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03. Project Objectives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Core Technical &amp; Agricultural Goals of the Mini-Project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46888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1. Ingest 7 Core 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Accept Nitrogen (N), Phosphorus (P), Potassium (K), Soil pH, Temperature, Humidity, and Rainfall input values via intuitive UI 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463040"/>
            <a:ext cx="246888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2. Multi-Crop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3774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Calculate continuous agronomic distance and weighted compatibility scores across 18 crop varieties in the dataset.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246888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3. Responsive Web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Build a modern client application (React + TypeScript + Vite) featuring real-time input sliders, test presets, and visual result cards.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463040"/>
            <a:ext cx="246888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4. ML Architecture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3774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Arial"/>
              </a:defRPr>
            </a:pPr>
            <a:r>
              <a:t>Design a Python Flask API endpoint (`POST /api/predict`) to serve trained Scikit-learn Random Forest model predictions (`model.pkl`).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04. Existing System vs. Proposed System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Comparative Paradigm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Existing / Traditional Method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Proposed Smart Agri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Arial"/>
              </a:defRPr>
            </a:pPr>
            <a:r>
              <a:t>• Crop choices based on regional tradition and manual intuition.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Arial"/>
              </a:defRPr>
            </a:pPr>
            <a:r>
              <a:t>• Limited to single-parameter check (e.g. soil type only).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Arial"/>
              </a:defRPr>
            </a:pPr>
            <a:r>
              <a:t>• Static paper reports without interactive decision tools.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Arial"/>
              </a:defRPr>
            </a:pPr>
            <a:r>
              <a:t>• No top alternative recommendations if primary crop fails.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Arial"/>
              </a:defRPr>
            </a:pPr>
            <a:r>
              <a:t>• High vulnerability to changing rainfall &amp; microclimates.</a:t>
            </a:r>
          </a:p>
          <a:p>
            <a:pPr>
              <a:spcAft>
                <a:spcPts val="1000"/>
              </a:spcAft>
              <a:defRPr sz="1150">
                <a:solidFill>
                  <a:srgbClr val="475569"/>
                </a:solidFill>
                <a:latin typeface="Arial"/>
              </a:defRPr>
            </a:pPr>
            <a:r>
              <a:t>• Subjective advice with zero quantitative compatibility score.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• Empirical data-driven analytics combining 7 features.</a:t>
            </a:r>
          </a:p>
          <a:p>
            <a:pPr>
              <a:spcAft>
                <a:spcPts val="10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• Simultaneous soil chemistry (N-P-K-pH) &amp; microclimate fusion.</a:t>
            </a:r>
          </a:p>
          <a:p>
            <a:pPr>
              <a:spcAft>
                <a:spcPts val="10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• Interactive React web prototype with real-time UI feedback.</a:t>
            </a:r>
          </a:p>
          <a:p>
            <a:pPr>
              <a:spcAft>
                <a:spcPts val="10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• Ranks Top 3 alternative crops with compatibility percentages.</a:t>
            </a:r>
          </a:p>
          <a:p>
            <a:pPr>
              <a:spcAft>
                <a:spcPts val="10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• Evaluates precipitation and thermal thresholds continuously.</a:t>
            </a:r>
          </a:p>
          <a:p>
            <a:pPr>
              <a:spcAft>
                <a:spcPts val="10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• Scalable architecture connecting to Python Flask ML Backend.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05. Input Parameters &amp; Feature Methodology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7 Core Agricultural Features &amp; Compatibility Weightage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943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7 Core Feature Vector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1. Nitrogen (N) [mg/kg] – Drives vegetative leaf &amp; chlorophyll synthesis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2. Phosphorus (P) [mg/kg] – Stimulates root growth &amp; early seed formation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3. Potassium (K) [mg/kg] – Enhances disease immunity &amp; water stress tolerance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4. Soil pH [pH scale] – Governs soil chemical nutrient bioavailability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5. Temperature [°C] – Thermal regulator for crop respiration &amp; growth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6. Humidity [Relative %] – Atmospheric moisture level for transpiration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7. Rainfall [mm / season] – Precipitation satisfying crop water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371600"/>
            <a:ext cx="4480560" cy="48463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150876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Agronomic Weighting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202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Mathematical Compatibility Formula:</a:t>
            </a:r>
          </a:p>
          <a:p>
            <a:pPr>
              <a:spcAft>
                <a:spcPts val="140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Score = 0.20(Rain) + 0.15(Temp) + 0.15(N) + 0.15(P) + 0.15(K) + 0.10(Hum) + 0.10(pH)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Rainfall (20%): Hydrological moisture constraint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Temperature (15%): Thermal growth window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Nitrogen (15%): Foliage &amp; yield volume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Phosphorus (15%): Root &amp; flowering vigor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Potassium (15%): Drought &amp; pest resilience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Humidity (10%): Atmospheric leaf transpiration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Arial"/>
              </a:defRPr>
            </a:pPr>
            <a:r>
              <a:t>• Soil pH (10%): Root nutrient assimilation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06. System Architecture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Layered System Components &amp; Technical Integration</a:t>
            </a:r>
          </a:p>
        </p:txBody>
      </p:sp>
      <p:pic>
        <p:nvPicPr>
          <p:cNvPr id="5" name="Picture 4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498079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371600"/>
            <a:ext cx="30175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508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Architecture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2024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Presentation Layer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React 19 + TypeScript + Vite client for fast rendering.</a:t>
            </a:r>
          </a:p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API Router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Flask REST API handling CORS and JSON payloads at POST /api/predict.</a:t>
            </a:r>
          </a:p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Intelligence Layer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Scikit-learn Random Forest model (model.pkl) trained on 18 crop varieties.</a:t>
            </a:r>
          </a:p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Fallback Engine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Client-side distance engine guarantees seamless offline demonstration.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07. System Workflow &amp; Methodology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Sequential Data Pipeline Execution</a:t>
            </a:r>
          </a:p>
        </p:txBody>
      </p:sp>
      <p:pic>
        <p:nvPicPr>
          <p:cNvPr id="5" name="Picture 4" descr="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498079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371600"/>
            <a:ext cx="3017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508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Pipeline Stages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2024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1. Data Ingestion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Captures 7 numerical features from form inputs.</a:t>
            </a:r>
          </a:p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2. Validation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Ensures values fall within agricultural bounds.</a:t>
            </a:r>
          </a:p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3. Processing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Normalizes feature vectors for model comparison.</a:t>
            </a:r>
          </a:p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4. Compatibility Scoring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Calculates continuous suitability percentage.</a:t>
            </a:r>
          </a:p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5. Output Generation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Presents primary crop, score %, &amp; top 3 alternatives.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08. Website Prototype / Proposed Interface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Home Page &amp; Crop Recommendation Input Module</a:t>
            </a:r>
          </a:p>
        </p:txBody>
      </p:sp>
      <p:pic>
        <p:nvPicPr>
          <p:cNvPr id="5" name="Picture 4" descr="proto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463040"/>
            <a:ext cx="256032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Prototype / Proposed Interface</a:t>
            </a:r>
          </a:p>
        </p:txBody>
      </p:sp>
      <p:pic>
        <p:nvPicPr>
          <p:cNvPr id="7" name="Picture 6" descr="proto_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463040"/>
            <a:ext cx="256032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Prototype / Proposed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00600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Interface Features &amp; Design System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Agricultural Visual Theme: Clean emerald design system built using React, TypeScript, and Lucide React icons.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Preset Selection Buttons: Pre-loaded soil test profiles (e.g. Clay/Rice, Black Soil/Cotton) for rapid evaluation and viva demo.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Real-Time Slider Validation: Interactive range sliders enforce parameter boundaries (e.g. pH 0-14, Temperature 0-50°C).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09. Website Prototype / Proposed Interface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Recommendation Results &amp; Parameter Breakdown</a:t>
            </a:r>
          </a:p>
        </p:txBody>
      </p:sp>
      <p:pic>
        <p:nvPicPr>
          <p:cNvPr id="5" name="Picture 4" descr="proto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463040"/>
            <a:ext cx="256032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Prototype / Proposed Interface</a:t>
            </a:r>
          </a:p>
        </p:txBody>
      </p:sp>
      <p:pic>
        <p:nvPicPr>
          <p:cNvPr id="7" name="Picture 6" descr="proto_parameter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463040"/>
            <a:ext cx="256032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Prototype / Proposed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00600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Output Presentation &amp; Agronomic Rationale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Primary Crop Recommendation Card: Displays top recommended crop (e.g., Rice) with dynamic confidence compatibility %.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Parameter Status Badges: Clear indicator tags ('Suitable', 'Near Suitable', 'Outside Range') for each of the 7 features.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• Rationale Breakdown: Explains specific agronomic reasons why the crop matches soil N-P-K and climate rainfall/temperature.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10. Top 3 Crop Recommendations &amp; System Testing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Alternative Ranking &amp; Quality Verification</a:t>
            </a:r>
          </a:p>
        </p:txBody>
      </p:sp>
      <p:pic>
        <p:nvPicPr>
          <p:cNvPr id="5" name="Picture 4" descr="proto_top3_cr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463040"/>
            <a:ext cx="2560320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Prototype / Proposed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5087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Testing &amp; Verification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Arial"/>
              </a:defRPr>
            </a:pPr>
            <a:r>
              <a:t>Form Input Boundary Testing</a:t>
            </a:r>
          </a:p>
          <a:p>
            <a:pPr>
              <a:spcAft>
                <a:spcPts val="10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Verified range checks preventing negative numbers or extreme values (e.g., pH &lt; 0 or &gt; 14).</a:t>
            </a:r>
          </a:p>
          <a:p>
            <a:pPr>
              <a:defRPr sz="1100" b="1">
                <a:solidFill>
                  <a:srgbClr val="059669"/>
                </a:solidFill>
                <a:latin typeface="Arial"/>
              </a:defRPr>
            </a:pPr>
            <a:r>
              <a:t>Preset Execution Testing</a:t>
            </a:r>
          </a:p>
          <a:p>
            <a:pPr>
              <a:spcAft>
                <a:spcPts val="10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Confirmed all 4 quick-presets load accurate default feature vectors without error.</a:t>
            </a:r>
          </a:p>
          <a:p>
            <a:pPr>
              <a:defRPr sz="1100" b="1">
                <a:solidFill>
                  <a:srgbClr val="059669"/>
                </a:solidFill>
                <a:latin typeface="Arial"/>
              </a:defRPr>
            </a:pPr>
            <a:r>
              <a:t>Fallback Engine Verification</a:t>
            </a:r>
          </a:p>
          <a:p>
            <a:pPr>
              <a:spcAft>
                <a:spcPts val="10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Validated client distance engine activates seamlessly when Flask API server is offline.</a:t>
            </a:r>
          </a:p>
          <a:p>
            <a:pPr>
              <a:defRPr sz="1100" b="1">
                <a:solidFill>
                  <a:srgbClr val="059669"/>
                </a:solidFill>
                <a:latin typeface="Arial"/>
              </a:defRPr>
            </a:pPr>
            <a:r>
              <a:t>Top 3 Ranking Consistency</a:t>
            </a:r>
          </a:p>
          <a:p>
            <a:pPr>
              <a:spcAft>
                <a:spcPts val="1000"/>
              </a:spcAft>
              <a:defRPr sz="1000">
                <a:solidFill>
                  <a:srgbClr val="475569"/>
                </a:solidFill>
                <a:latin typeface="Arial"/>
              </a:defRPr>
            </a:pPr>
            <a:r>
              <a:t>Ensured secondary crops (e.g. Jute 82%, Watermelon 78%) remain sorted in strict descending order.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11. Advantages, Future Scope &amp; Conclusion</a:t>
            </a:r>
          </a:p>
          <a:p>
            <a:pPr>
              <a:defRPr sz="1100">
                <a:solidFill>
                  <a:srgbClr val="10B981"/>
                </a:solidFill>
                <a:latin typeface="Arial"/>
              </a:defRPr>
            </a:pPr>
            <a:r>
              <a:t>Summary &amp; Mini-Project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Key 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Replaces guesswork with empirical soil analytics.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Fuses 7 soil chemistry &amp; climate features.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Instant interactive web prototype response.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Ranks Top 3 alternative crop varieties.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3931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087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659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Deploy trained model.pkl on Flask backend.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Integrate live IoT soil sensors via MQTT/HTTP.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Add live weather forecast API integration.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Support regional language interfaces.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5087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9659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Successfully designed &amp; built CSE mini-project.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Prototype demonstrates modular web architecture.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Meets faculty presentation &amp; viva standards.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• Ready for faculty evaluation &amp;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THANK YOU! QUESTIONS &amp; DISCUSSION</a:t>
            </a:r>
          </a:p>
          <a:p>
            <a:pPr algn="ctr">
              <a:defRPr sz="1050">
                <a:solidFill>
                  <a:srgbClr val="10B981"/>
                </a:solidFill>
                <a:latin typeface="Arial"/>
              </a:defRPr>
            </a:pPr>
            <a:r>
              <a:t>Agni College of Technology | Department of Computer Science and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